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ae_logo_ofic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457200"/>
            <a:ext cx="1737360" cy="174525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71600" y="1828800"/>
            <a:ext cx="9418320" cy="438912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</a:rPr>
              <a:t>ANÁLISIS DE LA EFECTIVIDAD
EN PENALTIS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F0C040"/>
                </a:solidFill>
              </a:rPr>
              <a:t>Premier League 2005-2026</a:t>
            </a:r>
          </a:p>
          <a:p>
            <a:pPr algn="l">
              <a:spcAft>
                <a:spcPts val="400"/>
              </a:spcAft>
            </a:pPr>
            <a:r>
              <a:rPr sz="8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Distribución Binomial · Prueba Chi-cuadrado de Bondad de Ajuste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8D6E5"/>
                </a:solidFill>
              </a:rPr>
              <a:t>Grupo 1: Henry Pazmiño · Jodie Parrales · Cindy Ayoví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8D6E5"/>
                </a:solidFill>
              </a:rPr>
              <a:t>César Gonzales · Mayra Vera</a:t>
            </a:r>
          </a:p>
          <a:p>
            <a:pPr algn="l">
              <a:spcAft>
                <a:spcPts val="400"/>
              </a:spcAft>
            </a:pPr>
            <a:r>
              <a:rPr sz="10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8B94A5"/>
                </a:solidFill>
              </a:rPr>
              <a:t>Eco. José Julián Coronel Reyes, MSc · Probabilidad · 3SA · Julio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Henry P.  |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Contexto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Premier League — el escenario perfecto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Henry P.  |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16459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2E6B4F"/>
                </a:solidFill>
              </a:rPr>
              <a:t>21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8B94A5"/>
                </a:solidFill>
              </a:rPr>
              <a:t>temporadas analizadas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2005/06 → 2025/26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383280" cy="16459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2E6B4F"/>
                </a:solidFill>
              </a:rPr>
              <a:t>624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8B94A5"/>
                </a:solidFill>
              </a:rPr>
              <a:t>jugador-temporada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observaciones registradas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011680"/>
            <a:ext cx="3383280" cy="16459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2E6B4F"/>
                </a:solidFill>
              </a:rPr>
              <a:t>1,378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8B94A5"/>
                </a:solidFill>
              </a:rPr>
              <a:t>penaltis lanzados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21 años de datos reales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</a:rPr>
              <a:t>Fuente: Transfermarkt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8D6E5"/>
                </a:solidFill>
              </a:rPr>
              <a:t>Plataforma de referencia internacional para estadísticas de fútbol profesional.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C8D6E5"/>
                </a:solidFill>
              </a:rPr>
              <a:t>Reconocida por la precisión y exhaustividad de sus registros. Datos de acceso público.</a:t>
            </a:r>
          </a:p>
          <a:p>
            <a:pPr algn="l">
              <a:spcAft>
                <a:spcPts val="400"/>
              </a:spcAft>
            </a:pPr>
            <a:r>
              <a:rPr sz="8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8B94A5"/>
                </a:solidFill>
              </a:rPr>
              <a:t>🔗 Repositorio GitHub: josuepaz80-usitee/proyecto-binomial-premier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Pregunta de Investigación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¿Qué queremos responder?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Henry P.  |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8288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</a:rPr>
              <a:t>¿Se puede modelar la efectividad en penaltis con
una distribución Binomial?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3474720" cy="20116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E6B4F"/>
                </a:solidFill>
              </a:rPr>
              <a:t>①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Verificar los 4 supuestos
del modelo Binomial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Ensayos fijos · Dos resultados
Independencia · p constante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206240"/>
            <a:ext cx="3474720" cy="20116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E6B4F"/>
                </a:solidFill>
              </a:rPr>
              <a:t>②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Estimar p̂ por máxima
verosimilitud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p̂ = Σk/Σn a partir de
624 jugador-temporada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4206240"/>
            <a:ext cx="3474720" cy="20116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2E6B4F"/>
                </a:solidFill>
              </a:rPr>
              <a:t>③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</a:rPr>
              <a:t>Prueba χ² de bondad
de ajuste (α = 0.05)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Comparar frecuencias observadas
vs. esperadas bajo Binomial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Distribución Binomial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El modelo matemático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Jodie P.  |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7315200" cy="22860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2E6B4F"/>
                </a:solidFill>
              </a:rPr>
              <a:t>Función de Probabilidad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FFFFFF"/>
                </a:solidFill>
              </a:rPr>
              <a:t>P(X = k) = C(n, k) · p</a:t>
            </a:r>
            <a:r>
              <a:rPr sz="2400" b="0">
                <a:solidFill>
                  <a:srgbClr val="FFFFFF"/>
                </a:solidFill>
              </a:rPr>
              <a:t>k</a:t>
            </a:r>
            <a:r>
              <a:rPr sz="2400" b="0">
                <a:solidFill>
                  <a:srgbClr val="FFFFFF"/>
                </a:solidFill>
              </a:rPr>
              <a:t> · (1 − p)</a:t>
            </a:r>
            <a:r>
              <a:rPr sz="2400" b="0">
                <a:solidFill>
                  <a:srgbClr val="FFFFFF"/>
                </a:solidFill>
              </a:rPr>
              <a:t>n−k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k = goles convertidos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n = penaltis lanzados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3D8B65"/>
                </a:solidFill>
              </a:rPr>
              <a:t>p̂ = Σk / Σn = 1,113 / 1,378</a:t>
            </a:r>
          </a:p>
          <a:p>
            <a:pPr algn="l"/>
            <a:r>
              <a:rPr sz="1400">
                <a:solidFill>
                  <a:srgbClr val="C8D6E5"/>
                </a:solidFill>
              </a:rPr>
              <a:t>p̂ = 0.8077 (80.8%)  →  ≈ 8 de cada 10 penaltis terminan en gol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2011680"/>
            <a:ext cx="3108960" cy="42976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E6B4F"/>
                </a:solidFill>
              </a:rPr>
              <a:t>4 Condiciones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</a:rPr>
              <a:t>✓ n fijo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</a:rPr>
              <a:t>✓ Dos resultados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</a:rPr>
              <a:t>✓ Independencia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ECC71"/>
                </a:solidFill>
              </a:rPr>
              <a:t>✓ p constante</a:t>
            </a:r>
          </a:p>
          <a:p>
            <a:pPr algn="l">
              <a:spcBef>
                <a:spcPts val="1000"/>
              </a:spcBef>
            </a:pPr>
            <a:r>
              <a:rPr sz="1400">
                <a:solidFill>
                  <a:srgbClr val="8B94A5"/>
                </a:solidFill>
              </a:rPr>
              <a:t>E[X] = np</a:t>
            </a:r>
          </a:p>
          <a:p>
            <a:pPr algn="l"/>
            <a:r>
              <a:rPr sz="1400">
                <a:solidFill>
                  <a:srgbClr val="8B94A5"/>
                </a:solidFill>
              </a:rPr>
              <a:t>Var(X) = np(1−p)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Metodología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8 pasos — rigor estadístico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Jodie P.  |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</a:rPr>
              <a:t>Carga y validación
del dataset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624 filas, 4 cols
0 valores nulos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91440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2011680"/>
            <a:ext cx="25603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</a:rPr>
              <a:t>Estadísticas
descriptivas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Totales globales
Estimación de p̂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18" y="2148840"/>
            <a:ext cx="91440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2011680"/>
            <a:ext cx="25603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</a:rPr>
              <a:t>Verificación de
4 supuestos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Uno por uno con
evidencia empírica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39" y="2148840"/>
            <a:ext cx="91440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011680"/>
            <a:ext cx="25603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</a:rPr>
              <a:t>Cálculo de
frecuencias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Obs. vs Esp. para
n = 1, 2, 3, 4,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59" y="2148840"/>
            <a:ext cx="91440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25603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</a:rPr>
              <a:t>Prueba χ²
por grupo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Bondad de ajuste
α = 0.05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617720"/>
            <a:ext cx="91440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4480560"/>
            <a:ext cx="25603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</a:rPr>
              <a:t>Exclusión n &lt; 30
jugadores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n = 5: solo 28 obs.
→ excluido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18" y="4617720"/>
            <a:ext cx="91440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4480560"/>
            <a:ext cx="25603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</a:rPr>
              <a:t>Generación de
3 gráficos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hist · barplot
plot (base 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39" y="4617720"/>
            <a:ext cx="91440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4480560"/>
            <a:ext cx="25603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</a:rPr>
              <a:t>Conclusiones
basadas en evidencia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Interpretación en
contexto fútbol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4617720"/>
            <a:ext cx="91440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Resultados: Estadísticas Globales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¿Qué dicen los datos?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Jodie P.  |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16459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2E6B4F"/>
                </a:solidFill>
              </a:rPr>
              <a:t>1,378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8B94A5"/>
                </a:solidFill>
              </a:rPr>
              <a:t>Penaltis lanzados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2011680"/>
            <a:ext cx="2560320" cy="16459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2E6B4F"/>
                </a:solidFill>
              </a:rPr>
              <a:t>1,113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8B94A5"/>
                </a:solidFill>
              </a:rPr>
              <a:t>Goles convertidos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2011680"/>
            <a:ext cx="2560320" cy="16459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3D8B65"/>
                </a:solidFill>
              </a:rPr>
              <a:t>80.8%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8B94A5"/>
                </a:solidFill>
              </a:rPr>
              <a:t>Efectividad (p̂)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011680"/>
            <a:ext cx="2560320" cy="16459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2E6B4F"/>
                </a:solidFill>
              </a:rPr>
              <a:t>1.8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8B94A5"/>
                </a:solidFill>
              </a:rPr>
              <a:t>Promedio goles
por jugador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6B4F"/>
                </a:solidFill>
              </a:rPr>
              <a:t>Distribución de penaltis lanzados (n)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n = 1: 48.9% (mayoría de jugadores)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n = 2: 22.0%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n = 3: 11.7%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n = 4:  7.1%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n ≥ 5: 10.4% (élite)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6B4F"/>
                </a:solidFill>
              </a:rPr>
              <a:t>Herramientas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Lenguaje R 4.3 en Google Colab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Biblioteca knitr para tablas formateadas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Gráficos base R: hist() · barplot() · plot()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Dataset público en GitHub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• Notebook interactivo ejecutable en navegador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Verificación de los 4 Supuestos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Condiciones del modelo Binomial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Cindy A.  |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560320" cy="27432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ECC71"/>
                </a:solidFill>
              </a:rPr>
              <a:t>① Ensayos fijos</a:t>
            </a:r>
          </a:p>
          <a:p>
            <a:pPr algn="l">
              <a:spcAft>
                <a:spcPts val="400"/>
              </a:spcAft>
            </a:pPr>
            <a:r>
              <a:rPr sz="6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Cada jugador-temporada tiene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un número determinado de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penaltis lanzados (1 a 11).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Valor prefijado, no cambia.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2011680"/>
            <a:ext cx="2560320" cy="27432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ECC71"/>
                </a:solidFill>
              </a:rPr>
              <a:t>② Dos resultados</a:t>
            </a:r>
          </a:p>
          <a:p>
            <a:pPr algn="l">
              <a:spcAft>
                <a:spcPts val="400"/>
              </a:spcAft>
            </a:pPr>
            <a:r>
              <a:rPr sz="6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Cada penalti: gol (éxito)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o no gol (fracaso).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Sin resultados intermedios.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Variable dicotómica pura.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2011680"/>
            <a:ext cx="2560320" cy="27432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ECC71"/>
                </a:solidFill>
              </a:rPr>
              <a:t>③ Independencia</a:t>
            </a:r>
          </a:p>
          <a:p>
            <a:pPr algn="l">
              <a:spcAft>
                <a:spcPts val="400"/>
              </a:spcAft>
            </a:pPr>
            <a:r>
              <a:rPr sz="6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Distintos jugadores, partidos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y temporadas. No hay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dependencia entre las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ejecuciones.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2011680"/>
            <a:ext cx="2560320" cy="27432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3D8B65"/>
                </a:solidFill>
              </a:rPr>
              <a:t>④ p constante</a:t>
            </a:r>
          </a:p>
          <a:p>
            <a:pPr algn="l">
              <a:spcAft>
                <a:spcPts val="400"/>
              </a:spcAft>
            </a:pPr>
            <a:r>
              <a:rPr sz="6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p̂ = 0.8077 asumida constante.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Estabilidad: 74.2%–90.8%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en 21 temporadas.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Sin tendencia clara.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2ECC71"/>
                </a:solidFill>
              </a:rPr>
              <a:t>✅ Las 4 condiciones se verifican satisfactoriamente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El modelo Binomial es aplicable a los datos de penaltis de la Premier League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Prueba Chi-Cuadrado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Bondad de ajuste — α = 0.05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Cindy A.  |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10972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2E6B4F"/>
                </a:solidFill>
              </a:rPr>
              <a:t>Estadístico de Prueba</a:t>
            </a:r>
          </a:p>
          <a:p>
            <a:pPr algn="ctr">
              <a:spcAft>
                <a:spcPts val="600"/>
              </a:spcAft>
            </a:pPr>
            <a:r>
              <a:rPr sz="2800">
                <a:solidFill>
                  <a:srgbClr val="FFFFFF"/>
                </a:solidFill>
              </a:rPr>
              <a:t>χ</a:t>
            </a:r>
            <a:r>
              <a:rPr sz="2800">
                <a:solidFill>
                  <a:srgbClr val="FFFFFF"/>
                </a:solidFill>
              </a:rPr>
              <a:t>2</a:t>
            </a:r>
            <a:r>
              <a:rPr sz="2800">
                <a:solidFill>
                  <a:srgbClr val="FFFFFF"/>
                </a:solidFill>
              </a:rPr>
              <a:t> = Σ (O</a:t>
            </a:r>
            <a:r>
              <a:rPr sz="2800">
                <a:solidFill>
                  <a:srgbClr val="FFFFFF"/>
                </a:solidFill>
              </a:rPr>
              <a:t>i</a:t>
            </a:r>
            <a:r>
              <a:rPr sz="2800">
                <a:solidFill>
                  <a:srgbClr val="FFFFFF"/>
                </a:solidFill>
              </a:rPr>
              <a:t> − E</a:t>
            </a:r>
            <a:r>
              <a:rPr sz="2800">
                <a:solidFill>
                  <a:srgbClr val="FFFFFF"/>
                </a:solidFill>
              </a:rPr>
              <a:t>i</a:t>
            </a:r>
            <a:r>
              <a:rPr sz="2800">
                <a:solidFill>
                  <a:srgbClr val="FFFFFF"/>
                </a:solidFill>
              </a:rPr>
              <a:t>)</a:t>
            </a:r>
            <a:r>
              <a:rPr sz="2800">
                <a:solidFill>
                  <a:srgbClr val="FFFFFF"/>
                </a:solidFill>
              </a:rPr>
              <a:t>2</a:t>
            </a:r>
            <a:r>
              <a:rPr sz="2800">
                <a:solidFill>
                  <a:srgbClr val="FFFFFF"/>
                </a:solidFill>
              </a:rPr>
              <a:t> / E</a:t>
            </a:r>
            <a:r>
              <a:rPr sz="2800">
                <a:solidFill>
                  <a:srgbClr val="FFFFFF"/>
                </a:solidFill>
              </a:rPr>
              <a:t>i</a:t>
            </a:r>
          </a:p>
          <a:p>
            <a:pPr algn="ctr"/>
            <a:r>
              <a:rPr sz="1400">
                <a:solidFill>
                  <a:srgbClr val="8B94A5"/>
                </a:solidFill>
              </a:rPr>
              <a:t>Oᵢ = frecuencias observadas    |    Eᵢ = frecuencias esperadas bajo Binomial(n, p̂)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2560320" cy="18288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05D4E"/>
                </a:solidFill>
              </a:rPr>
              <a:t>n = 1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305 jugadores  |  χ² = 23.47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E05D4E"/>
                </a:solidFill>
              </a:rPr>
              <a:t>p-valor = 0.000001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E05D4E"/>
                </a:solidFill>
              </a:rPr>
              <a:t>✗ NO Binomial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4023360"/>
            <a:ext cx="2560320" cy="18288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ECC71"/>
                </a:solidFill>
              </a:rPr>
              <a:t>n = 2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137 jugadores  |  χ² = 2.22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ECC71"/>
                </a:solidFill>
              </a:rPr>
              <a:t>p-valor = 0.330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ECC71"/>
                </a:solidFill>
              </a:rPr>
              <a:t>✓ BINOMIAL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4023360"/>
            <a:ext cx="2560320" cy="18288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ECC71"/>
                </a:solidFill>
              </a:rPr>
              <a:t>n = 3 ★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73 jugadores  |  χ² = 1.01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ECC71"/>
                </a:solidFill>
              </a:rPr>
              <a:t>p-valor = 0.605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ECC71"/>
                </a:solidFill>
              </a:rPr>
              <a:t>✓ BINOMIAL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4023360"/>
            <a:ext cx="2560320" cy="18288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2ECC71"/>
                </a:solidFill>
              </a:rPr>
              <a:t>n = 4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C8D6E5"/>
                </a:solidFill>
              </a:rPr>
              <a:t>44 jugadores  |  χ² = 3.73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ECC71"/>
                </a:solidFill>
              </a:rPr>
              <a:t>p-valor = 0.155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ECC71"/>
                </a:solidFill>
              </a:rPr>
              <a:t>✓ BINOMIAL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6126480"/>
            <a:ext cx="10698480" cy="54864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8B94A5"/>
                </a:solidFill>
              </a:rPr>
              <a:t>n = 5: EXCLUIDO — solo 28 jugadores (mínimo requerido: 30)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Interpretación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¿Qué nos dicen los datos?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César G.  |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25603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7200" b="1">
                <a:solidFill>
                  <a:srgbClr val="2ECC71"/>
                </a:solidFill>
              </a:rPr>
              <a:t>75%</a:t>
            </a:r>
          </a:p>
          <a:p>
            <a:pPr algn="l">
              <a:spcAft>
                <a:spcPts val="400"/>
              </a:spcAft>
            </a:pPr>
            <a:r>
              <a:rPr sz="1900">
                <a:solidFill>
                  <a:srgbClr val="FFFFFF"/>
                </a:solidFill>
              </a:rPr>
              <a:t>de los grupos aceptan H₀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3 de 4 grupos validan el modelo Binomial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con un 95% de confianza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5394960" cy="25603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05D4E"/>
                </a:solidFill>
              </a:rPr>
              <a:t>¿Por qué falla n = 1?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Jugadores con 1 penalti por temporada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No son lanzadores designados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69.8% observado vs 80.8% esperado</a:t>
            </a:r>
          </a:p>
          <a:p>
            <a:pPr algn="l">
              <a:spcAft>
                <a:spcPts val="400"/>
              </a:spcAft>
            </a:pPr>
            <a:r>
              <a:rPr sz="6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>
                <a:solidFill>
                  <a:srgbClr val="3D8B65"/>
                </a:solidFill>
              </a:rPr>
              <a:t>→ "Efecto de especialización":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   lanzadores frecuentes ejecutan mejor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46320"/>
            <a:ext cx="10698480" cy="146304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3D8B65"/>
                </a:solidFill>
              </a:rPr>
              <a:t>✦ Mejor ajuste: n = 3   (χ² = 1.01, p-valor = 0.605)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73 jugadores con 3 penaltis — diferencias mínimas entre frecuencias observadas y esperadas bajo Binomial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Evidencia Gráfica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Resultados visuales del notebook 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César G.  |  Slide 10</a:t>
            </a:r>
          </a:p>
        </p:txBody>
      </p:sp>
      <p:pic>
        <p:nvPicPr>
          <p:cNvPr id="5" name="Picture 4" descr="img_5cabcc48a8a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3383280" cy="23323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5029200"/>
            <a:ext cx="3383280" cy="4572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8B94A5"/>
                </a:solidFill>
              </a:rPr>
              <a:t>Fig. 1 — Tabla χ²</a:t>
            </a:r>
          </a:p>
        </p:txBody>
      </p:sp>
      <p:pic>
        <p:nvPicPr>
          <p:cNvPr id="7" name="Picture 6" descr="img_7215bdf5e39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383280" cy="34337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389120" y="5029200"/>
            <a:ext cx="3383280" cy="4572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8B94A5"/>
                </a:solidFill>
              </a:rPr>
              <a:t>Fig. 2 — Obs. vs Esperado (n = 3)</a:t>
            </a:r>
          </a:p>
        </p:txBody>
      </p:sp>
      <p:pic>
        <p:nvPicPr>
          <p:cNvPr id="9" name="Picture 8" descr="img_b41677e18a8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554480"/>
            <a:ext cx="3383280" cy="28753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46720" y="5029200"/>
            <a:ext cx="3383280" cy="4572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8B94A5"/>
                </a:solidFill>
              </a:rPr>
              <a:t>Fig. 3 — Efectividad 2005-2026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Discusión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Implicaciones y limitaciones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César G.  |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212080" cy="20116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ECC71"/>
                </a:solidFill>
              </a:rPr>
              <a:t>✓ Hallazgos principales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Binomial modela adecuadamente los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  penaltis para n = 2, 3, 4 (75% grupos)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Efectividad estable: 74.2% – 90.8%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  en 21 temporadas, sin tendencia clara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Aplicación práctica: selección de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  lanzadores y decisiones tácticas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20116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05D4E"/>
                </a:solidFill>
              </a:rPr>
              <a:t>⚠ Limitaciones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p asumido constante (simplificación)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Diferencias individuales sustanciales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  entre jugadores no capturadas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Modelo Beta-Binomial capturaría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  heterogeneidad en habilidad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E6B4F"/>
                </a:solidFill>
              </a:rPr>
              <a:t>🔮 Futuras investigaciones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Ampliar a otras ligas europeas para validación cruzada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Modelos jerárquicos bayesianos con p variable por jugador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Incorporar factores: presión del momento, fatiga, calidad del portero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Extender periodo de estudio para muestra suficiente de n ≥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Conclusiones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6 hallazgos clave del estudio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Mayra V.  |  Slide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</a:rPr>
              <a:t>Variable k: discreta de</a:t>
            </a:r>
          </a:p>
          <a:p>
            <a:r>
              <a:rPr sz="1500">
                <a:solidFill>
                  <a:srgbClr val="C8D6E5"/>
                </a:solidFill>
              </a:rPr>
              <a:t>conteo, candidata ideal</a:t>
            </a:r>
          </a:p>
          <a:p>
            <a:r>
              <a:rPr sz="1500">
                <a:solidFill>
                  <a:srgbClr val="C8D6E5"/>
                </a:solidFill>
              </a:rPr>
              <a:t>para modelo Binomial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148840"/>
            <a:ext cx="54864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11680"/>
            <a:ext cx="34747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</a:rPr>
              <a:t>4 supuestos verificados</a:t>
            </a:r>
          </a:p>
          <a:p>
            <a:r>
              <a:rPr sz="1500">
                <a:solidFill>
                  <a:srgbClr val="C8D6E5"/>
                </a:solidFill>
              </a:rPr>
              <a:t>satisfactoriamente en el</a:t>
            </a:r>
          </a:p>
          <a:p>
            <a:r>
              <a:rPr sz="1500">
                <a:solidFill>
                  <a:srgbClr val="C8D6E5"/>
                </a:solidFill>
              </a:rPr>
              <a:t>contexto de la Premier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59" y="2148840"/>
            <a:ext cx="54864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11680"/>
            <a:ext cx="34747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</a:rPr>
              <a:t>p̂ = 0.8077 → 8 de cada</a:t>
            </a:r>
          </a:p>
          <a:p>
            <a:r>
              <a:rPr sz="1500">
                <a:solidFill>
                  <a:srgbClr val="C8D6E5"/>
                </a:solidFill>
              </a:rPr>
              <a:t>10 penaltis terminan</a:t>
            </a:r>
          </a:p>
          <a:p>
            <a:r>
              <a:rPr sz="1500">
                <a:solidFill>
                  <a:srgbClr val="C8D6E5"/>
                </a:solidFill>
              </a:rPr>
              <a:t>en gol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148840"/>
            <a:ext cx="54864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80560"/>
            <a:ext cx="34747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</a:rPr>
              <a:t>75% de los grupos (n=2,</a:t>
            </a:r>
          </a:p>
          <a:p>
            <a:r>
              <a:rPr sz="1500">
                <a:solidFill>
                  <a:srgbClr val="C8D6E5"/>
                </a:solidFill>
              </a:rPr>
              <a:t>3,4) aceptan H₀ con</a:t>
            </a:r>
          </a:p>
          <a:p>
            <a:r>
              <a:rPr sz="1500">
                <a:solidFill>
                  <a:srgbClr val="C8D6E5"/>
                </a:solidFill>
              </a:rPr>
              <a:t>α = 0.05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617720"/>
            <a:ext cx="54864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480560"/>
            <a:ext cx="34747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</a:rPr>
              <a:t>La Binomial permite</a:t>
            </a:r>
          </a:p>
          <a:p>
            <a:r>
              <a:rPr sz="1500">
                <a:solidFill>
                  <a:srgbClr val="C8D6E5"/>
                </a:solidFill>
              </a:rPr>
              <a:t>calcular P(X=k) exactas</a:t>
            </a:r>
          </a:p>
          <a:p>
            <a:r>
              <a:rPr sz="1500">
                <a:solidFill>
                  <a:srgbClr val="C8D6E5"/>
                </a:solidFill>
              </a:rPr>
              <a:t>para toma de decisiones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59" y="4617720"/>
            <a:ext cx="54864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480560"/>
            <a:ext cx="3474720" cy="210312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900" b="1">
                <a:solidFill>
                  <a:srgbClr val="FFFFFF"/>
                </a:solidFill>
              </a:rPr>
              <a:t>Aplicación directa en</a:t>
            </a:r>
          </a:p>
          <a:p>
            <a:r>
              <a:rPr sz="1500">
                <a:solidFill>
                  <a:srgbClr val="C8D6E5"/>
                </a:solidFill>
              </a:rPr>
              <a:t>selección de lanzadores</a:t>
            </a:r>
          </a:p>
          <a:p>
            <a:r>
              <a:rPr sz="1500">
                <a:solidFill>
                  <a:srgbClr val="C8D6E5"/>
                </a:solidFill>
              </a:rPr>
              <a:t>y estrategia deportiva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617720"/>
            <a:ext cx="54864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Referencias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APA 7ª edición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Mayra V.  |  Slide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32004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Agresti, A. (2023). Categorical Data Analysis (3.ª ed.). Wiley.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Devore, J. L. (2021). Probabilidad y estadística para ingeniería y ciencias (9.ª ed.). Cengage.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Transfermarkt. (2026). Premier League — Penalty statistics. transfermarkt.us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C8D6E5"/>
                </a:solidFill>
              </a:rPr>
              <a:t>Walpole, R. E., Myers, R. H., Myers, S. L., &amp; Ye, K. (2021). Probabilidad y estadística (9.ª ed.). Pearson.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3D8B65"/>
                </a:solidFill>
              </a:rPr>
              <a:t>🔗 GitHub: josuepaz80-usitee/proyecto-binomial-premier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8B94A5"/>
                </a:solidFill>
              </a:rPr>
              <a:t>🔗 Colab: colab.research.google.com/drive/1XBKLMkABs6xkEehOk7HC2_bBDHqqtAyl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8229600" cy="109728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</a:rPr>
              <a:t>Declaratoria IA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8B94A5"/>
                </a:solidFill>
              </a:rPr>
              <a:t>Transparencia académica · Gracias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82880"/>
            <a:ext cx="2651760" cy="320040"/>
          </a:xfrm>
          <a:prstGeom prst="roundRect">
            <a:avLst/>
          </a:prstGeom>
          <a:solidFill>
            <a:srgbClr val="2E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FFFFFF"/>
                </a:solidFill>
              </a:rPr>
              <a:t>🎤 Henry P.  |  Slide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11480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E6B4F"/>
                </a:solidFill>
              </a:rPr>
              <a:t>Herramientas utilizadas:</a:t>
            </a:r>
          </a:p>
          <a:p>
            <a:pPr algn="l">
              <a:spcAft>
                <a:spcPts val="400"/>
              </a:spcAft>
            </a:pPr>
            <a:r>
              <a:rPr sz="6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ChatGPT (OpenAI) — redacción asistida, revisión gramatical y de estilo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GitHub Copilot (Microsoft) — generación y depuración de código 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Claude (Anthropic) — formateo APA 7, estructuración del documento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Hermes Agent (Nous Research) — asistente de desarrollo del proyecto</a:t>
            </a:r>
          </a:p>
          <a:p>
            <a:pPr algn="l">
              <a:spcAft>
                <a:spcPts val="400"/>
              </a:spcAft>
            </a:pPr>
            <a:r>
              <a:rPr sz="8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Todo contenido fue revisado, validado y editado críticamente por los autores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El análisis, interpretación y conclusiones reflejan criterio académico del equipo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C8D6E5"/>
                </a:solidFill>
              </a:rPr>
              <a:t>• Los autores asumen total responsabilidad por el contenido del presente documento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0D1117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8B94A5"/>
                </a:solidFill>
              </a:rPr>
              <a:t>Conforme al Instructivo para el Uso de IA en Trabajos Académicos — UAE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6126480"/>
            <a:ext cx="5760720" cy="548640"/>
          </a:xfrm>
          <a:prstGeom prst="roundRect">
            <a:avLst/>
          </a:prstGeom>
          <a:solidFill>
            <a:srgbClr val="1C2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0C040"/>
                </a:solidFill>
              </a:rPr>
              <a:t>¡GRACIAS POR SU ATENCIÓN!  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